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63" r:id="rId6"/>
    <p:sldId id="264" r:id="rId7"/>
    <p:sldId id="268" r:id="rId8"/>
    <p:sldId id="265" r:id="rId9"/>
    <p:sldId id="266" r:id="rId10"/>
    <p:sldId id="267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45E"/>
    <a:srgbClr val="1F4E6A"/>
    <a:srgbClr val="046285"/>
    <a:srgbClr val="14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A4FCB-0335-4C18-A9D3-B8CB0CD8D6E1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0391A-E585-4930-9D47-849613FC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7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4DEF-EE09-2307-ADAF-9DBE01296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BEE64-C617-1BDC-BD7E-5C0C643A7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CA4AF-0C59-FE62-219D-522E8F53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E4C9A-6B4E-57C3-2DD9-E3389531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73AE0-42B6-0FB8-ED93-A41C57BE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2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973A-3D34-CBB1-29DA-B236AAB3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3AB4-FFF4-A4D5-D3FC-6C2C150D2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E3312-3692-0CDF-7F7A-7939F80E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F4D5A-4CBD-EAFC-CE15-4C95E48B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5D6E-9925-1208-7088-9D77840A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13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BBD6-D07E-C055-B5B2-689C1956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ADA29-28BC-A449-2AF3-941393530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E3D2F-7224-4DED-10A9-80634E54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6D094-418F-4543-C0BF-8D75AD676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1514E-6BF1-A6A5-3AFB-180F94B0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89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35E5-BAFD-B773-1C53-3A9EBBD6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055DA-020D-51AE-FFFA-7CC4F6BE2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C7398-90E9-DBA4-0F39-45D29354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47017-15D1-B7BF-FC0D-6633F621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3A27E-F6BB-3747-2ABE-6AEE12D2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71AC5-9E1D-5BDC-CFE0-A9573814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A7B6-2D3D-54EA-879A-D8C48D7D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0A3F-D5B4-B28E-94D0-B4D37AE9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BE5A6-5F92-7646-BCE3-9B3B298A1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7D803-A76F-C93D-9BB4-876B491CD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2FA34-6A45-2B95-D244-4EAB12932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52FC6-AA26-99A7-9DC5-6C4687C6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29B9B-99F8-272F-174E-44A20380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B1245D-4E0C-876B-780D-092A37BE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73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1092-5FDA-C35D-D977-F31680BC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07058-A8DF-F09F-23B8-9BA3A632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A4F85-78B4-4486-B6FC-5988BEAB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A0DD5-2B95-D482-3E78-5DF437DC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62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84321-EDED-71C7-8DD1-E3B977E7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DD247-BBC0-A264-08E4-374CBA3D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D0EB1-2F62-BF3C-2176-3741BB31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70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E28C-70AF-2D62-941D-D1DEA10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C5364-097C-C9FC-B198-812FF5543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879AC-DFFB-3C51-8CA3-FAB9D3712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186A8-1E78-18B0-110D-FCF4D855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B2784-5DC2-59D0-377A-9DA64834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48061-58FD-DD02-1DCA-E68F8C56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75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DEC4-D0E3-E2F8-D3B2-0A2A8E01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81287-083D-4D12-A603-1A7183029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FD9FD-BAD1-3EF5-45DB-6B1458B3F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02AF-2DE3-6AF0-FCD2-C2BBD6949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ED5B-C9C5-A024-C150-1B1BEBCA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EB686-0B37-6768-9EB5-CCE7CC83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00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DDC8-126A-13C9-2822-C53DAB5F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C58A2-3B1D-FBDA-6405-38C336371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7D06C-9656-1BCE-2927-13E2CC91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C842A-98B6-6C5E-CBD9-F4B75DDA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CC06-86AA-8DF0-D0C4-F82CCA07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56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065FD-5822-81B1-3055-D3A2B5FDD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B3F9A-C1E8-13B8-C0C8-61F97B53B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36746-D860-4EA6-F677-7B25E5AD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5905F-F8B4-4940-148D-C0426A98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0130-DD13-C165-C56A-5B387D90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18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5001D-2946-017E-1B90-5620071A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DD2CE-AF8E-C562-50AF-825AEE2D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0016A-A831-7586-EF4F-1D4F4F0D7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6594E-3857-449D-819A-31295898501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43B77-0B7C-E840-F961-F0FB8B1C0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CCAC-330B-20FE-B3C3-CD47487D4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5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3B00-2C2D-DECA-674F-83320E94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D4EB96-33C9-DAFE-AE70-E3AD85C4A26D}"/>
              </a:ext>
            </a:extLst>
          </p:cNvPr>
          <p:cNvSpPr txBox="1"/>
          <p:nvPr/>
        </p:nvSpPr>
        <p:spPr>
          <a:xfrm>
            <a:off x="0" y="157316"/>
            <a:ext cx="6096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Problem Statement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>
                <a:latin typeface="Calisto MT" panose="02040603050505030304" pitchFamily="18" charset="0"/>
              </a:rPr>
              <a:t>Thera Bank has a strong base of </a:t>
            </a:r>
            <a:r>
              <a:rPr lang="en-US" b="1" dirty="0">
                <a:latin typeface="Calisto MT" panose="02040603050505030304" pitchFamily="18" charset="0"/>
              </a:rPr>
              <a:t>depositors (liability customers)</a:t>
            </a:r>
            <a:r>
              <a:rPr lang="en-US" dirty="0">
                <a:latin typeface="Calisto MT" panose="02040603050505030304" pitchFamily="18" charset="0"/>
              </a:rPr>
              <a:t> but relatively fewer </a:t>
            </a:r>
            <a:r>
              <a:rPr lang="en-US" b="1" dirty="0">
                <a:latin typeface="Calisto MT" panose="02040603050505030304" pitchFamily="18" charset="0"/>
              </a:rPr>
              <a:t>borrowers (asset customers)</a:t>
            </a:r>
            <a:r>
              <a:rPr lang="en-US" dirty="0">
                <a:latin typeface="Calisto MT" panose="02040603050505030304" pitchFamily="18" charset="0"/>
              </a:rPr>
              <a:t>.</a:t>
            </a:r>
            <a:br>
              <a:rPr lang="en-US" dirty="0">
                <a:latin typeface="Calisto MT" panose="02040603050505030304" pitchFamily="18" charset="0"/>
              </a:rPr>
            </a:br>
            <a:r>
              <a:rPr lang="en-US" dirty="0"/>
              <a:t>In particular, the management wants to explore ways of converting its liability customers to personal loan customers (while retaining them as depositors), to bring in more loan revenue.</a:t>
            </a:r>
            <a:endParaRPr lang="en-US" dirty="0">
              <a:latin typeface="Calisto MT" panose="02040603050505030304" pitchFamily="18" charset="0"/>
            </a:endParaRPr>
          </a:p>
          <a:p>
            <a:pPr>
              <a:buNone/>
            </a:pPr>
            <a:endParaRPr lang="en-US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dirty="0">
                <a:latin typeface="Calisto MT" panose="02040603050505030304" pitchFamily="18" charset="0"/>
              </a:rPr>
              <a:t>📊 </a:t>
            </a:r>
            <a:r>
              <a:rPr lang="en-US" b="1" dirty="0">
                <a:latin typeface="Calisto MT" panose="02040603050505030304" pitchFamily="18" charset="0"/>
              </a:rPr>
              <a:t>Dataset Size:</a:t>
            </a:r>
            <a:r>
              <a:rPr lang="en-US" dirty="0">
                <a:latin typeface="Calisto MT" panose="02040603050505030304" pitchFamily="18" charset="0"/>
              </a:rPr>
              <a:t> </a:t>
            </a:r>
            <a:r>
              <a:rPr lang="en-US" b="1" dirty="0">
                <a:latin typeface="Calisto MT" panose="02040603050505030304" pitchFamily="18" charset="0"/>
              </a:rPr>
              <a:t>5,000 customers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FD593-69D0-5EFA-0ABC-0760020D93FA}"/>
              </a:ext>
            </a:extLst>
          </p:cNvPr>
          <p:cNvSpPr txBox="1"/>
          <p:nvPr/>
        </p:nvSpPr>
        <p:spPr>
          <a:xfrm>
            <a:off x="6135328" y="88490"/>
            <a:ext cx="5928852" cy="7078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/>
              <a:t>Customer Attributes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600" b="1" dirty="0"/>
              <a:t>Demographics &amp; Financials</a:t>
            </a:r>
          </a:p>
          <a:p>
            <a:pPr>
              <a:buNone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Age </a:t>
            </a:r>
            <a:r>
              <a:rPr lang="en-US" sz="1400" dirty="0">
                <a:latin typeface="Calisto MT" panose="02040603050505030304" pitchFamily="18" charset="0"/>
              </a:rPr>
              <a:t>– Age of depositor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Experience</a:t>
            </a:r>
            <a:r>
              <a:rPr lang="en-US" sz="1400" dirty="0">
                <a:latin typeface="Calisto MT" panose="02040603050505030304" pitchFamily="18" charset="0"/>
              </a:rPr>
              <a:t> – Years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Income</a:t>
            </a:r>
            <a:r>
              <a:rPr lang="en-US" sz="1400" dirty="0">
                <a:latin typeface="Calisto MT" panose="02040603050505030304" pitchFamily="18" charset="0"/>
              </a:rPr>
              <a:t> – Annual income ($000)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Family</a:t>
            </a:r>
            <a:r>
              <a:rPr lang="en-US" sz="1400" dirty="0">
                <a:latin typeface="Calisto MT" panose="02040603050505030304" pitchFamily="18" charset="0"/>
              </a:rPr>
              <a:t> – Family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Education</a:t>
            </a:r>
            <a:r>
              <a:rPr lang="en-US" sz="1400" dirty="0">
                <a:latin typeface="Calisto MT" panose="02040603050505030304" pitchFamily="18" charset="0"/>
              </a:rPr>
              <a:t> – 1: Undergrad | 2: Graduate | 3: Advanced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Mortgage</a:t>
            </a:r>
            <a:r>
              <a:rPr lang="en-US" sz="1400" dirty="0">
                <a:latin typeface="Calisto MT" panose="02040603050505030304" pitchFamily="18" charset="0"/>
              </a:rPr>
              <a:t> – Home loan amount ($000)</a:t>
            </a:r>
          </a:p>
          <a:p>
            <a:endParaRPr lang="en-US" sz="1400" dirty="0"/>
          </a:p>
          <a:p>
            <a:pPr>
              <a:buNone/>
            </a:pPr>
            <a:r>
              <a:rPr lang="en-US" sz="1600" b="1" dirty="0"/>
              <a:t>Banking Behavior</a:t>
            </a:r>
          </a:p>
          <a:p>
            <a:pPr>
              <a:buNone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CCAvg</a:t>
            </a:r>
            <a:r>
              <a:rPr lang="en-US" sz="1400" dirty="0">
                <a:latin typeface="Calisto MT" panose="02040603050505030304" pitchFamily="18" charset="0"/>
              </a:rPr>
              <a:t> – Avg. monthly credit card spend ($000)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CreditCard</a:t>
            </a:r>
            <a:r>
              <a:rPr lang="en-US" sz="1400" dirty="0">
                <a:latin typeface="Calisto MT" panose="02040603050505030304" pitchFamily="18" charset="0"/>
              </a:rPr>
              <a:t> – Uses bank-issued credit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Online</a:t>
            </a:r>
            <a:r>
              <a:rPr lang="en-US" sz="1400" dirty="0">
                <a:latin typeface="Calisto MT" panose="02040603050505030304" pitchFamily="18" charset="0"/>
              </a:rPr>
              <a:t> – Uses internet banking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Securities Account</a:t>
            </a:r>
            <a:r>
              <a:rPr lang="en-US" sz="1400" dirty="0">
                <a:latin typeface="Calisto MT" panose="02040603050505030304" pitchFamily="18" charset="0"/>
              </a:rPr>
              <a:t> – Investment / brokerage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CD Account</a:t>
            </a:r>
            <a:r>
              <a:rPr lang="en-US" sz="1400" dirty="0">
                <a:latin typeface="Calisto MT" panose="02040603050505030304" pitchFamily="18" charset="0"/>
              </a:rPr>
              <a:t> – Fixed deposit account</a:t>
            </a:r>
          </a:p>
          <a:p>
            <a:endParaRPr lang="en-US" sz="1400" dirty="0"/>
          </a:p>
          <a:p>
            <a:pPr>
              <a:buNone/>
            </a:pPr>
            <a:r>
              <a:rPr lang="en-US" sz="1600" b="1" dirty="0"/>
              <a:t>Feature Engineering</a:t>
            </a:r>
          </a:p>
          <a:p>
            <a:pPr>
              <a:buNone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AgeGroup</a:t>
            </a:r>
            <a:r>
              <a:rPr lang="en-US" sz="1400" b="1" dirty="0">
                <a:latin typeface="Calisto MT" panose="02040603050505030304" pitchFamily="18" charset="0"/>
              </a:rPr>
              <a:t> - </a:t>
            </a:r>
            <a:r>
              <a:rPr lang="en-US" sz="1400" dirty="0">
                <a:latin typeface="Calisto MT" panose="02040603050505030304" pitchFamily="18" charset="0"/>
              </a:rPr>
              <a:t>['20-30', '30-40', '40-50','50-60' ,'60+']</a:t>
            </a:r>
            <a:endParaRPr lang="en-US" sz="1400" b="1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CCToIncomeRatio</a:t>
            </a:r>
            <a:r>
              <a:rPr lang="en-US" sz="1400" b="1" dirty="0">
                <a:latin typeface="Calisto MT" panose="02040603050505030304" pitchFamily="18" charset="0"/>
              </a:rPr>
              <a:t> - </a:t>
            </a:r>
            <a:r>
              <a:rPr lang="en-US" sz="1400" dirty="0">
                <a:latin typeface="Calisto MT" panose="02040603050505030304" pitchFamily="18" charset="0"/>
              </a:rPr>
              <a:t>How much of the month income goes into credit card expenses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MortgageCategory</a:t>
            </a:r>
            <a:r>
              <a:rPr lang="en-US" sz="1400" b="1" dirty="0">
                <a:latin typeface="Calisto MT" panose="02040603050505030304" pitchFamily="18" charset="0"/>
              </a:rPr>
              <a:t> – </a:t>
            </a:r>
            <a:r>
              <a:rPr lang="en-US" sz="1400" dirty="0">
                <a:latin typeface="Calisto MT" panose="02040603050505030304" pitchFamily="18" charset="0"/>
              </a:rPr>
              <a:t>Low (1-80), Normal (81-300), High (300-700)</a:t>
            </a:r>
            <a:endParaRPr lang="en-US" sz="1400" b="1" dirty="0">
              <a:latin typeface="Calisto MT" panose="02040603050505030304" pitchFamily="18" charset="0"/>
            </a:endParaRP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Target Variable</a:t>
            </a:r>
          </a:p>
          <a:p>
            <a:pPr>
              <a:buNone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Personal Loan</a:t>
            </a:r>
            <a:r>
              <a:rPr lang="en-US" sz="1400" dirty="0">
                <a:latin typeface="Calisto MT" panose="02040603050505030304" pitchFamily="18" charset="0"/>
              </a:rPr>
              <a:t> – Accepted last campaign loan (Yes / No)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A70D66-FA48-5553-E86B-AD75DB48655E}"/>
              </a:ext>
            </a:extLst>
          </p:cNvPr>
          <p:cNvSpPr txBox="1"/>
          <p:nvPr/>
        </p:nvSpPr>
        <p:spPr>
          <a:xfrm>
            <a:off x="0" y="3556820"/>
            <a:ext cx="613532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Tech Stack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EDA</a:t>
            </a:r>
            <a:r>
              <a:rPr lang="en-IN" dirty="0">
                <a:latin typeface="Calisto MT" panose="02040603050505030304" pitchFamily="18" charset="0"/>
              </a:rPr>
              <a:t> - Seaborn, Matplotlib</a:t>
            </a:r>
          </a:p>
          <a:p>
            <a:endParaRPr lang="en-IN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Calisto MT" panose="02040603050505030304" pitchFamily="18" charset="0"/>
              </a:rPr>
              <a:t>Modeling</a:t>
            </a:r>
            <a:r>
              <a:rPr lang="en-IN" dirty="0">
                <a:latin typeface="Calisto MT" panose="02040603050505030304" pitchFamily="18" charset="0"/>
              </a:rPr>
              <a:t> - Scikit-learn, Imbalanced-learn (</a:t>
            </a:r>
            <a:r>
              <a:rPr lang="en-IN" dirty="0" err="1">
                <a:latin typeface="Calisto MT" panose="02040603050505030304" pitchFamily="18" charset="0"/>
              </a:rPr>
              <a:t>imblearn</a:t>
            </a:r>
            <a:r>
              <a:rPr lang="en-IN" dirty="0">
                <a:latin typeface="Calisto MT" panose="02040603050505030304" pitchFamily="18" charset="0"/>
              </a:rPr>
              <a:t>)</a:t>
            </a:r>
          </a:p>
          <a:p>
            <a:endParaRPr lang="en-IN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Data Processing</a:t>
            </a:r>
            <a:r>
              <a:rPr lang="en-IN" dirty="0">
                <a:latin typeface="Calisto MT" panose="02040603050505030304" pitchFamily="18" charset="0"/>
              </a:rPr>
              <a:t> - Pandas, 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Saving the model </a:t>
            </a:r>
            <a:r>
              <a:rPr lang="en-IN" dirty="0">
                <a:latin typeface="Calisto MT" panose="02040603050505030304" pitchFamily="18" charset="0"/>
              </a:rPr>
              <a:t>- Pickle</a:t>
            </a:r>
            <a:endParaRPr lang="en-IN" b="1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32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E2D3C-0EA0-AF08-A27F-9443EE77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25407-535E-9BE4-19DE-7C5DAAAA5AB1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57E737-ED79-4DD5-E2FC-3468FE236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8621"/>
            <a:ext cx="6961193" cy="2871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B9BB27-636A-0EFD-44B6-72FF04D36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014" y="1916948"/>
            <a:ext cx="3974382" cy="28714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5DC364-EF9B-B4E1-906B-2345BECA9DC9}"/>
              </a:ext>
            </a:extLst>
          </p:cNvPr>
          <p:cNvSpPr txBox="1"/>
          <p:nvPr/>
        </p:nvSpPr>
        <p:spPr>
          <a:xfrm>
            <a:off x="0" y="4947596"/>
            <a:ext cx="72955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latin typeface="Calisto MT" panose="02040603050505030304" pitchFamily="18" charset="0"/>
              </a:rPr>
              <a:t>Insights:-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The depositors are mostly of the working class age (Ranging from </a:t>
            </a:r>
            <a:r>
              <a:rPr lang="en-IN" sz="1100" b="1" dirty="0">
                <a:latin typeface="Calisto MT" panose="02040603050505030304" pitchFamily="18" charset="0"/>
              </a:rPr>
              <a:t>30 to 60</a:t>
            </a:r>
            <a:r>
              <a:rPr lang="en-IN" sz="1100" dirty="0">
                <a:latin typeface="Calisto MT" panose="02040603050505030304" pitchFamily="18" charset="0"/>
              </a:rPr>
              <a:t>). There are very few people below 25 and above 60 (as seen by the steepness of the plot)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Income of most of the people lie in between </a:t>
            </a:r>
            <a:r>
              <a:rPr lang="en-IN" sz="1100" b="1" dirty="0">
                <a:latin typeface="Calisto MT" panose="02040603050505030304" pitchFamily="18" charset="0"/>
              </a:rPr>
              <a:t>30k - 120k</a:t>
            </a:r>
            <a:r>
              <a:rPr lang="en-IN" sz="1100" dirty="0">
                <a:latin typeface="Calisto MT" panose="02040603050505030304" pitchFamily="18" charset="0"/>
              </a:rPr>
              <a:t>(There are many people who earn above 100k, but their numbers are comparatively less)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Average CC Spending per month is </a:t>
            </a:r>
            <a:r>
              <a:rPr lang="en-IN" sz="1100" b="1" dirty="0">
                <a:latin typeface="Calisto MT" panose="02040603050505030304" pitchFamily="18" charset="0"/>
              </a:rPr>
              <a:t>0.5k to 3k</a:t>
            </a:r>
            <a:r>
              <a:rPr lang="en-IN" sz="1100" dirty="0">
                <a:latin typeface="Calisto MT" panose="02040603050505030304" pitchFamily="18" charset="0"/>
              </a:rPr>
              <a:t> for most of the people. It also goes as far as 8-9k for few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The mortgage value for most of the people is nearly 0 (highly skewed at 0), and those who have a mortgage have it around </a:t>
            </a:r>
            <a:r>
              <a:rPr lang="en-IN" sz="1100" b="1" dirty="0">
                <a:latin typeface="Calisto MT" panose="02040603050505030304" pitchFamily="18" charset="0"/>
              </a:rPr>
              <a:t>80k - 200k</a:t>
            </a:r>
            <a:r>
              <a:rPr lang="en-IN" sz="1100" dirty="0">
                <a:latin typeface="Calisto MT" panose="02040603050505030304" pitchFamily="18" charset="0"/>
              </a:rPr>
              <a:t>, with very less people beyond that value (above 300k)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6F71B-20F1-D334-D5E2-219D02AF44EF}"/>
              </a:ext>
            </a:extLst>
          </p:cNvPr>
          <p:cNvSpPr txBox="1"/>
          <p:nvPr/>
        </p:nvSpPr>
        <p:spPr>
          <a:xfrm>
            <a:off x="7791014" y="5147651"/>
            <a:ext cx="3372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Roughly only 10% of people took personal loan in the last campaign</a:t>
            </a:r>
            <a:endParaRPr lang="en-IN" sz="14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89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CB027-F42A-B342-FF21-CC3E5501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1AE12-40AC-D39F-3C5C-4F4FB22347F0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029B1-E004-0C73-4F5A-2F649039A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959" y="2134087"/>
            <a:ext cx="6306513" cy="2403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E1114-0379-0609-1FEC-FF0FCA528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2" y="1928621"/>
            <a:ext cx="5628403" cy="2814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9CECE1-E7F2-8473-5755-95855EFECA0B}"/>
              </a:ext>
            </a:extLst>
          </p:cNvPr>
          <p:cNvSpPr txBox="1"/>
          <p:nvPr/>
        </p:nvSpPr>
        <p:spPr>
          <a:xfrm>
            <a:off x="128542" y="5174335"/>
            <a:ext cx="5628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Only people whose income is above 50k took loan in the last campaign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9C0CC-E3A4-94E5-DC43-11B6610291A5}"/>
              </a:ext>
            </a:extLst>
          </p:cNvPr>
          <p:cNvSpPr txBox="1"/>
          <p:nvPr/>
        </p:nvSpPr>
        <p:spPr>
          <a:xfrm>
            <a:off x="5926472" y="51743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 </a:t>
            </a:r>
            <a:r>
              <a:rPr lang="en-IN" dirty="0" err="1">
                <a:latin typeface="Calisto MT" panose="02040603050505030304" pitchFamily="18" charset="0"/>
              </a:rPr>
              <a:t>CCAvg</a:t>
            </a:r>
            <a:r>
              <a:rPr lang="en-IN" dirty="0">
                <a:latin typeface="Calisto MT" panose="02040603050505030304" pitchFamily="18" charset="0"/>
              </a:rPr>
              <a:t> and Mortgage are seen to be increasing as Income increases. </a:t>
            </a:r>
            <a:r>
              <a:rPr lang="en-IN" b="1" dirty="0">
                <a:latin typeface="Calisto MT" panose="02040603050505030304" pitchFamily="18" charset="0"/>
              </a:rPr>
              <a:t>Spearman correlation </a:t>
            </a:r>
            <a:r>
              <a:rPr lang="en-IN" dirty="0">
                <a:latin typeface="Calisto MT" panose="02040603050505030304" pitchFamily="18" charset="0"/>
              </a:rPr>
              <a:t>value between </a:t>
            </a:r>
            <a:r>
              <a:rPr lang="en-IN" dirty="0" err="1">
                <a:latin typeface="Calisto MT" panose="02040603050505030304" pitchFamily="18" charset="0"/>
              </a:rPr>
              <a:t>CCAvg</a:t>
            </a:r>
            <a:r>
              <a:rPr lang="en-IN" dirty="0">
                <a:latin typeface="Calisto MT" panose="02040603050505030304" pitchFamily="18" charset="0"/>
              </a:rPr>
              <a:t> and Income is 0.58. Correlation value between Income and Mortgage (for people with Mortgage &gt; 0) is 0.63</a:t>
            </a:r>
          </a:p>
        </p:txBody>
      </p:sp>
    </p:spTree>
    <p:extLst>
      <p:ext uri="{BB962C8B-B14F-4D97-AF65-F5344CB8AC3E}">
        <p14:creationId xmlns:p14="http://schemas.microsoft.com/office/powerpoint/2010/main" val="90071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7FED3-C052-9A60-E39F-B38147C6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B1E21-52AD-9B26-B22A-976388732E95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CD Account vs Personal Loan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7EF810-D543-B413-DA6B-5E9E95D54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532" y="1863865"/>
            <a:ext cx="3747150" cy="2857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AB40C-0627-A409-84E8-6241161E2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400" y="1972854"/>
            <a:ext cx="3949882" cy="2972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1BD2E8-D579-838E-AC3B-C7D441BC2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9" y="2419638"/>
            <a:ext cx="3392508" cy="13369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C7887-1184-7B56-9D34-6C167FF07DE6}"/>
              </a:ext>
            </a:extLst>
          </p:cNvPr>
          <p:cNvSpPr txBox="1"/>
          <p:nvPr/>
        </p:nvSpPr>
        <p:spPr>
          <a:xfrm>
            <a:off x="174235" y="5147474"/>
            <a:ext cx="6767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46%</a:t>
            </a:r>
            <a:r>
              <a:rPr lang="en-IN" dirty="0">
                <a:latin typeface="Calisto MT" panose="02040603050505030304" pitchFamily="18" charset="0"/>
              </a:rPr>
              <a:t> of people with CD account took personal loan, while only </a:t>
            </a:r>
            <a:r>
              <a:rPr lang="en-IN" b="1" dirty="0">
                <a:latin typeface="Calisto MT" panose="02040603050505030304" pitchFamily="18" charset="0"/>
              </a:rPr>
              <a:t>7%</a:t>
            </a:r>
            <a:r>
              <a:rPr lang="en-IN" dirty="0">
                <a:latin typeface="Calisto MT" panose="02040603050505030304" pitchFamily="18" charset="0"/>
              </a:rPr>
              <a:t> of non-CD Account holders took loan. (Securities account did not make much difference, hence not included)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BA272-4C91-BA64-6120-F2930ECB0F96}"/>
              </a:ext>
            </a:extLst>
          </p:cNvPr>
          <p:cNvSpPr txBox="1"/>
          <p:nvPr/>
        </p:nvSpPr>
        <p:spPr>
          <a:xfrm>
            <a:off x="7502014" y="4945635"/>
            <a:ext cx="46899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Almost all people who have CD account in the bank uses its Online services</a:t>
            </a:r>
          </a:p>
          <a:p>
            <a:endParaRPr lang="en-IN" dirty="0">
              <a:latin typeface="Calisto MT" panose="02040603050505030304" pitchFamily="18" charset="0"/>
            </a:endParaRPr>
          </a:p>
          <a:p>
            <a:r>
              <a:rPr lang="en-IN" dirty="0">
                <a:latin typeface="Calisto MT" panose="02040603050505030304" pitchFamily="18" charset="0"/>
              </a:rPr>
              <a:t>Hence, we can reach out to them (CD account holders) for campaigning by Online services</a:t>
            </a:r>
          </a:p>
        </p:txBody>
      </p:sp>
    </p:spTree>
    <p:extLst>
      <p:ext uri="{BB962C8B-B14F-4D97-AF65-F5344CB8AC3E}">
        <p14:creationId xmlns:p14="http://schemas.microsoft.com/office/powerpoint/2010/main" val="158424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2C227-9288-C80A-9F2E-8E8F22996A91}"/>
              </a:ext>
            </a:extLst>
          </p:cNvPr>
          <p:cNvSpPr txBox="1"/>
          <p:nvPr/>
        </p:nvSpPr>
        <p:spPr>
          <a:xfrm>
            <a:off x="699714" y="321728"/>
            <a:ext cx="6999883" cy="967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Mortgage vs Personal Loan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85A6B3-0E05-E0E2-601B-EA5BBA76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97680"/>
            <a:ext cx="3004457" cy="22733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BCF23D-F393-359D-A29A-79B7048FA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56" y="1897187"/>
            <a:ext cx="3271471" cy="22738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35C425-B005-DFE2-D183-07A0B153F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772" y="2105543"/>
            <a:ext cx="2636454" cy="15764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CB18E6B-403F-B4E1-EE71-CE5B0335D2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544" y="2175881"/>
            <a:ext cx="2716339" cy="15764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78DDFE-066B-A2DC-7F5E-10D4988968AC}"/>
              </a:ext>
            </a:extLst>
          </p:cNvPr>
          <p:cNvSpPr txBox="1"/>
          <p:nvPr/>
        </p:nvSpPr>
        <p:spPr>
          <a:xfrm>
            <a:off x="-1" y="4690958"/>
            <a:ext cx="2889289" cy="1591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There are mostly people who have a normal category Mortgage (seen in all groups) (of the ones who have mortgages). Highest High mortgagers are aged 40-50 and 50-60, which is due to the fact that they are more in numbers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A299B-7EBC-0F19-4D3F-C23674246448}"/>
              </a:ext>
            </a:extLst>
          </p:cNvPr>
          <p:cNvSpPr txBox="1"/>
          <p:nvPr/>
        </p:nvSpPr>
        <p:spPr>
          <a:xfrm>
            <a:off x="3131452" y="4437043"/>
            <a:ext cx="3228579" cy="2099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>
                <a:latin typeface="Calisto MT" panose="02040603050505030304" pitchFamily="18" charset="0"/>
              </a:rPr>
              <a:t>For the people who have mortgages,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100" dirty="0">
              <a:latin typeface="Calisto MT" panose="0204060305050503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 </a:t>
            </a:r>
            <a:r>
              <a:rPr lang="en-IN" sz="1100" b="1" dirty="0">
                <a:latin typeface="Calisto MT" panose="02040603050505030304" pitchFamily="18" charset="0"/>
              </a:rPr>
              <a:t>45%</a:t>
            </a:r>
            <a:r>
              <a:rPr lang="en-IN" sz="1100" dirty="0">
                <a:latin typeface="Calisto MT" panose="02040603050505030304" pitchFamily="18" charset="0"/>
              </a:rPr>
              <a:t> of Low income, </a:t>
            </a:r>
            <a:r>
              <a:rPr lang="en-IN" sz="1100" b="1" dirty="0">
                <a:latin typeface="Calisto MT" panose="02040603050505030304" pitchFamily="18" charset="0"/>
              </a:rPr>
              <a:t>31%</a:t>
            </a:r>
            <a:r>
              <a:rPr lang="en-IN" sz="1100" dirty="0">
                <a:latin typeface="Calisto MT" panose="02040603050505030304" pitchFamily="18" charset="0"/>
              </a:rPr>
              <a:t> of Normal income and only </a:t>
            </a:r>
            <a:r>
              <a:rPr lang="en-IN" sz="1100" b="1" dirty="0">
                <a:latin typeface="Calisto MT" panose="02040603050505030304" pitchFamily="18" charset="0"/>
              </a:rPr>
              <a:t>7%</a:t>
            </a:r>
            <a:r>
              <a:rPr lang="en-IN" sz="1100" dirty="0">
                <a:latin typeface="Calisto MT" panose="02040603050505030304" pitchFamily="18" charset="0"/>
              </a:rPr>
              <a:t> of High income people have Normal Mortgage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Most of the high mortgages were of people with high income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Most mortgages are of people with low incomes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555D7-169B-4225-7F0E-BDD403C6DC0C}"/>
              </a:ext>
            </a:extLst>
          </p:cNvPr>
          <p:cNvSpPr txBox="1"/>
          <p:nvPr/>
        </p:nvSpPr>
        <p:spPr>
          <a:xfrm>
            <a:off x="6568716" y="5071831"/>
            <a:ext cx="2707299" cy="82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sto MT" panose="02040603050505030304" pitchFamily="18" charset="0"/>
              </a:rPr>
              <a:t>38%</a:t>
            </a:r>
            <a:r>
              <a:rPr lang="en-IN" sz="1100" dirty="0">
                <a:latin typeface="Calisto MT" panose="02040603050505030304" pitchFamily="18" charset="0"/>
              </a:rPr>
              <a:t> of High Mortgagers took personal loan, and most high mortgages were taken by people with High income.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E37CB-6C70-EFA9-1850-00B1ECDEED7D}"/>
              </a:ext>
            </a:extLst>
          </p:cNvPr>
          <p:cNvSpPr txBox="1"/>
          <p:nvPr/>
        </p:nvSpPr>
        <p:spPr>
          <a:xfrm>
            <a:off x="9491483" y="4817915"/>
            <a:ext cx="2610341" cy="133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Moreover</a:t>
            </a:r>
            <a:r>
              <a:rPr lang="en-IN" sz="1100" b="1" dirty="0">
                <a:latin typeface="Calisto MT" panose="02040603050505030304" pitchFamily="18" charset="0"/>
              </a:rPr>
              <a:t>, 77%</a:t>
            </a:r>
            <a:r>
              <a:rPr lang="en-IN" sz="1100" dirty="0">
                <a:latin typeface="Calisto MT" panose="02040603050505030304" pitchFamily="18" charset="0"/>
              </a:rPr>
              <a:t> of high mortgagers with CD Account took loan, while </a:t>
            </a:r>
            <a:r>
              <a:rPr lang="en-IN" sz="1100" b="1" dirty="0">
                <a:latin typeface="Calisto MT" panose="02040603050505030304" pitchFamily="18" charset="0"/>
              </a:rPr>
              <a:t>approximately 30%</a:t>
            </a:r>
            <a:r>
              <a:rPr lang="en-IN" sz="1100" dirty="0">
                <a:latin typeface="Calisto MT" panose="02040603050505030304" pitchFamily="18" charset="0"/>
              </a:rPr>
              <a:t> of high mortgagers without CD account took loan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DD2BAE-6488-DC12-480C-F639F0250E0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889288" y="5486657"/>
            <a:ext cx="24216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27DABD-0A67-6202-A059-AEA657C76F7A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6360031" y="5486657"/>
            <a:ext cx="2086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77388B-EFD0-E853-F645-FE627145CE1D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9276015" y="5486656"/>
            <a:ext cx="2154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01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B574F-1055-B14F-E2ED-6CC0B736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17FF9B-CA4C-704A-9506-2465ED6B86E5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Education vs Personal Loan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698645-5C5D-F0BF-06FC-AE3B7107E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" y="2041919"/>
            <a:ext cx="7697968" cy="2774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20BB6A-9608-1DEB-CC4F-0FB91267E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856" y="2283078"/>
            <a:ext cx="3968610" cy="20239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986A6C-3FAA-33CA-A57C-CEA39EE5A557}"/>
              </a:ext>
            </a:extLst>
          </p:cNvPr>
          <p:cNvSpPr txBox="1"/>
          <p:nvPr/>
        </p:nvSpPr>
        <p:spPr>
          <a:xfrm>
            <a:off x="699714" y="321728"/>
            <a:ext cx="6999883" cy="967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AEC06-FC91-6DAF-BB2E-CB3564D98A16}"/>
              </a:ext>
            </a:extLst>
          </p:cNvPr>
          <p:cNvSpPr txBox="1"/>
          <p:nvPr/>
        </p:nvSpPr>
        <p:spPr>
          <a:xfrm>
            <a:off x="699714" y="50137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Undergrad people earn more on average than Graduates and Advanced people. They also spend higher on </a:t>
            </a:r>
            <a:r>
              <a:rPr lang="en-IN" dirty="0" err="1">
                <a:latin typeface="Calisto MT" panose="02040603050505030304" pitchFamily="18" charset="0"/>
              </a:rPr>
              <a:t>CreditCards</a:t>
            </a:r>
            <a:r>
              <a:rPr lang="en-IN" dirty="0">
                <a:latin typeface="Calisto MT" panose="02040603050505030304" pitchFamily="18" charset="0"/>
              </a:rPr>
              <a:t>. However, the </a:t>
            </a:r>
            <a:r>
              <a:rPr lang="en-IN" dirty="0" err="1">
                <a:latin typeface="Calisto MT" panose="02040603050505030304" pitchFamily="18" charset="0"/>
              </a:rPr>
              <a:t>CCToIncomeRatio</a:t>
            </a:r>
            <a:r>
              <a:rPr lang="en-IN" dirty="0">
                <a:latin typeface="Calisto MT" panose="02040603050505030304" pitchFamily="18" charset="0"/>
              </a:rPr>
              <a:t> is almost same for each category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37DE9-51B8-AC09-6559-9AFB6D34B0B8}"/>
              </a:ext>
            </a:extLst>
          </p:cNvPr>
          <p:cNvSpPr txBox="1"/>
          <p:nvPr/>
        </p:nvSpPr>
        <p:spPr>
          <a:xfrm>
            <a:off x="7791014" y="5013700"/>
            <a:ext cx="44736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Out of all the loan takers, only </a:t>
            </a:r>
            <a:r>
              <a:rPr lang="en-IN" b="1" dirty="0">
                <a:latin typeface="Calisto MT" panose="02040603050505030304" pitchFamily="18" charset="0"/>
              </a:rPr>
              <a:t>20%</a:t>
            </a:r>
            <a:r>
              <a:rPr lang="en-IN" dirty="0">
                <a:latin typeface="Calisto MT" panose="02040603050505030304" pitchFamily="18" charset="0"/>
              </a:rPr>
              <a:t> of them were with Education level 1, while the rest </a:t>
            </a:r>
            <a:r>
              <a:rPr lang="en-IN" b="1" dirty="0">
                <a:latin typeface="Calisto MT" panose="02040603050505030304" pitchFamily="18" charset="0"/>
              </a:rPr>
              <a:t>80% </a:t>
            </a:r>
            <a:r>
              <a:rPr lang="en-IN" dirty="0">
                <a:latin typeface="Calisto MT" panose="02040603050505030304" pitchFamily="18" charset="0"/>
              </a:rPr>
              <a:t>were taken by people with Education level 2 and 3</a:t>
            </a:r>
          </a:p>
        </p:txBody>
      </p:sp>
    </p:spTree>
    <p:extLst>
      <p:ext uri="{BB962C8B-B14F-4D97-AF65-F5344CB8AC3E}">
        <p14:creationId xmlns:p14="http://schemas.microsoft.com/office/powerpoint/2010/main" val="206489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AE422-05FB-52A1-92DE-7C71B1751F88}"/>
              </a:ext>
            </a:extLst>
          </p:cNvPr>
          <p:cNvSpPr txBox="1"/>
          <p:nvPr/>
        </p:nvSpPr>
        <p:spPr>
          <a:xfrm>
            <a:off x="157127" y="200967"/>
            <a:ext cx="6714699" cy="14581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Actions that can be taken</a:t>
            </a:r>
            <a:endParaRPr lang="en-US" sz="4800" b="1" u="sng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B1B2E9-8524-49FA-3456-EA18ACC4FB8A}"/>
              </a:ext>
            </a:extLst>
          </p:cNvPr>
          <p:cNvSpPr txBox="1"/>
          <p:nvPr/>
        </p:nvSpPr>
        <p:spPr>
          <a:xfrm>
            <a:off x="351440" y="2028381"/>
            <a:ext cx="1139860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No need to campaign much to people having income less than 50k (no one with income below 50k took personal loan)</a:t>
            </a:r>
          </a:p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Prioritize people with a CD Account (6.5x more likely to take a loan). Moreover, almost all CD holders use online services, hence they can be campaigned on the online services (reducing the campaigning costs)</a:t>
            </a:r>
          </a:p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Focus more on people with high mortgages (who are mostly people with high income. They are also mostly aged 40-60)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Furthermore, out of these high mortgagers, 77% of people who held a CD Account and 30% of people who didn't hold CD Account took personal loan</a:t>
            </a:r>
          </a:p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Customers who are graduates/professionals are more likely to take loan than undergraduates (Out of all loan takers, 80% had education = 2 or 3, even though there are higher number of people with Education level 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D1888-420A-7546-CB8B-7DFB3F8E8D7F}"/>
              </a:ext>
            </a:extLst>
          </p:cNvPr>
          <p:cNvSpPr txBox="1"/>
          <p:nvPr/>
        </p:nvSpPr>
        <p:spPr>
          <a:xfrm>
            <a:off x="157127" y="4409371"/>
            <a:ext cx="11398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Groups to focus on:-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People with Income &gt; 50000 USD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People aged 30-60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CD Account holders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High mortgagers (who also happen to be people with high income)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CD Account holders &gt; No CD Account holders within High mortgagers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Graduates and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4992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E088C-C944-24BB-46C8-70CDD32B85EC}"/>
              </a:ext>
            </a:extLst>
          </p:cNvPr>
          <p:cNvSpPr txBox="1"/>
          <p:nvPr/>
        </p:nvSpPr>
        <p:spPr>
          <a:xfrm>
            <a:off x="115221" y="1622745"/>
            <a:ext cx="114753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sto MT" panose="02040603050505030304" pitchFamily="18" charset="0"/>
              </a:rPr>
              <a:t>Model Development Workflow</a:t>
            </a:r>
          </a:p>
          <a:p>
            <a:endParaRPr lang="en-US" sz="1600" b="1" dirty="0">
              <a:latin typeface="Calisto MT" panose="020406030505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sto MT" panose="02040603050505030304" pitchFamily="18" charset="0"/>
              </a:rPr>
              <a:t>Feature Selection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Based on exploratory data analysis (EDA), the following features were selected for modeling: Age, Income, CD Account, Mortgage, Education, </a:t>
            </a:r>
            <a:r>
              <a:rPr lang="en-US" sz="1600" dirty="0" err="1">
                <a:latin typeface="Calisto MT" panose="02040603050505030304" pitchFamily="18" charset="0"/>
              </a:rPr>
              <a:t>CCAvg</a:t>
            </a:r>
            <a:r>
              <a:rPr lang="en-US" sz="1600" dirty="0">
                <a:latin typeface="Calisto MT" panose="02040603050505030304" pitchFamily="18" charset="0"/>
              </a:rPr>
              <a:t>, and </a:t>
            </a:r>
            <a:r>
              <a:rPr lang="en-US" sz="1600" dirty="0" err="1">
                <a:latin typeface="Calisto MT" panose="02040603050505030304" pitchFamily="18" charset="0"/>
              </a:rPr>
              <a:t>CCToIncomeRatio</a:t>
            </a:r>
            <a:r>
              <a:rPr lang="en-US" sz="1600" dirty="0">
                <a:latin typeface="Calisto MT" panose="0204060305050503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600" b="1" dirty="0">
              <a:latin typeface="Calisto MT" panose="020406030505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sto MT" panose="02040603050505030304" pitchFamily="18" charset="0"/>
              </a:rPr>
              <a:t>Preprocessing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For Logistic Regression, a </a:t>
            </a:r>
            <a:r>
              <a:rPr lang="en-US" sz="1600" dirty="0" err="1">
                <a:latin typeface="Calisto MT" panose="02040603050505030304" pitchFamily="18" charset="0"/>
              </a:rPr>
              <a:t>ColumnTransformer</a:t>
            </a:r>
            <a:r>
              <a:rPr lang="en-US" sz="1600" dirty="0">
                <a:latin typeface="Calisto MT" panose="02040603050505030304" pitchFamily="18" charset="0"/>
              </a:rPr>
              <a:t> was used to apply appropriate scaling and encoding to the input features.</a:t>
            </a:r>
          </a:p>
          <a:p>
            <a:pPr marL="342900" indent="-342900">
              <a:buFont typeface="+mj-lt"/>
              <a:buAutoNum type="arabicPeriod"/>
            </a:pPr>
            <a:endParaRPr lang="en-US" sz="1600" b="1" dirty="0">
              <a:latin typeface="Calisto MT" panose="020406030505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sto MT" panose="02040603050505030304" pitchFamily="18" charset="0"/>
              </a:rPr>
              <a:t>Pipeline Construction</a:t>
            </a:r>
          </a:p>
          <a:p>
            <a:endParaRPr lang="en-US" sz="1600" dirty="0">
              <a:latin typeface="Calisto MT" panose="020406030505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sto MT" panose="02040603050505030304" pitchFamily="18" charset="0"/>
              </a:rPr>
              <a:t>Logistic Regression: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The pipeline consisted of class imbalance handling using </a:t>
            </a:r>
            <a:r>
              <a:rPr lang="en-US" sz="1600" b="1" dirty="0">
                <a:latin typeface="Calisto MT" panose="02040603050505030304" pitchFamily="18" charset="0"/>
              </a:rPr>
              <a:t>SMOTENC </a:t>
            </a:r>
            <a:r>
              <a:rPr lang="en-US" sz="1600" dirty="0">
                <a:latin typeface="Calisto MT" panose="02040603050505030304" pitchFamily="18" charset="0"/>
              </a:rPr>
              <a:t>(SMOTENC chosen over SMOTE because the input features had categorical column), followed by preprocessing, and finally the Logistic Regression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sto MT" panose="02040603050505030304" pitchFamily="18" charset="0"/>
              </a:rPr>
              <a:t>Random Forest Classifier: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Since Random Forest models do not require feature scaling or encoding, the pipeline included only </a:t>
            </a:r>
            <a:r>
              <a:rPr lang="en-US" sz="1600" b="1" dirty="0">
                <a:latin typeface="Calisto MT" panose="02040603050505030304" pitchFamily="18" charset="0"/>
              </a:rPr>
              <a:t>SMOTENC</a:t>
            </a:r>
            <a:r>
              <a:rPr lang="en-US" sz="1600" dirty="0">
                <a:latin typeface="Calisto MT" panose="02040603050505030304" pitchFamily="18" charset="0"/>
              </a:rPr>
              <a:t> for imbalance handling and the model itself.</a:t>
            </a:r>
          </a:p>
          <a:p>
            <a:endParaRPr lang="en-US" sz="1600" dirty="0">
              <a:latin typeface="Calisto MT" panose="02040603050505030304" pitchFamily="18" charset="0"/>
            </a:endParaRPr>
          </a:p>
          <a:p>
            <a:r>
              <a:rPr lang="en-US" sz="1600" b="1" dirty="0">
                <a:latin typeface="Calisto MT" panose="02040603050505030304" pitchFamily="18" charset="0"/>
              </a:rPr>
              <a:t>4. Hyperparameter Tuning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The complete pipelines were passed to </a:t>
            </a:r>
            <a:r>
              <a:rPr lang="en-US" sz="1600" dirty="0" err="1">
                <a:latin typeface="Calisto MT" panose="02040603050505030304" pitchFamily="18" charset="0"/>
              </a:rPr>
              <a:t>GridSearchCV</a:t>
            </a:r>
            <a:r>
              <a:rPr lang="en-US" sz="1600" dirty="0">
                <a:latin typeface="Calisto MT" panose="02040603050505030304" pitchFamily="18" charset="0"/>
              </a:rPr>
              <a:t>, allowing hyperparameter optimization to be performed in a cross-validated and leakage-free manner.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56AEDC-A1D5-203F-7F9F-4A8B0E9AF3BA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  <a:r>
              <a:rPr lang="en-US" sz="40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building</a:t>
            </a:r>
          </a:p>
        </p:txBody>
      </p:sp>
    </p:spTree>
    <p:extLst>
      <p:ext uri="{BB962C8B-B14F-4D97-AF65-F5344CB8AC3E}">
        <p14:creationId xmlns:p14="http://schemas.microsoft.com/office/powerpoint/2010/main" val="22386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85FADE-36E9-3784-8DE3-ABCE117019D1}"/>
              </a:ext>
            </a:extLst>
          </p:cNvPr>
          <p:cNvSpPr txBox="1"/>
          <p:nvPr/>
        </p:nvSpPr>
        <p:spPr>
          <a:xfrm>
            <a:off x="0" y="-9741"/>
            <a:ext cx="12192000" cy="1476112"/>
          </a:xfrm>
          <a:prstGeom prst="rect">
            <a:avLst/>
          </a:prstGeom>
          <a:solidFill>
            <a:srgbClr val="1A445E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FCE7C-E4E1-4FCF-BA13-B55F5B1962C4}"/>
              </a:ext>
            </a:extLst>
          </p:cNvPr>
          <p:cNvSpPr txBox="1"/>
          <p:nvPr/>
        </p:nvSpPr>
        <p:spPr>
          <a:xfrm>
            <a:off x="17249" y="1498191"/>
            <a:ext cx="71111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b="1" i="0" dirty="0">
                <a:effectLst/>
                <a:latin typeface="Calisto MT" panose="02040603050505030304" pitchFamily="18" charset="0"/>
              </a:rPr>
              <a:t>False Positives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 :- In actual the person did not take loan but the model predicts he/she took the loan. Waste of resources and time</a:t>
            </a:r>
          </a:p>
          <a:p>
            <a:pPr algn="l">
              <a:buNone/>
            </a:pPr>
            <a:r>
              <a:rPr lang="en-US" sz="1100" b="1" i="0" dirty="0">
                <a:effectLst/>
                <a:latin typeface="Calisto MT" panose="02040603050505030304" pitchFamily="18" charset="0"/>
              </a:rPr>
              <a:t>False Negatives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 :- Person took the loan but the model predicted it did not. Waste of potential income for the bank.</a:t>
            </a:r>
          </a:p>
          <a:p>
            <a:pPr algn="l">
              <a:buNone/>
            </a:pPr>
            <a:endParaRPr lang="en-US" sz="1100" b="0" i="0" dirty="0">
              <a:effectLst/>
              <a:latin typeface="Calisto MT" panose="02040603050505030304" pitchFamily="18" charset="0"/>
            </a:endParaRPr>
          </a:p>
          <a:p>
            <a:pPr algn="l">
              <a:buNone/>
            </a:pPr>
            <a:r>
              <a:rPr lang="en-US" sz="1100" b="0" i="0" dirty="0">
                <a:effectLst/>
                <a:latin typeface="Calisto MT" panose="02040603050505030304" pitchFamily="18" charset="0"/>
              </a:rPr>
              <a:t>False Negative error is more dangerous than False positive error, hence we use </a:t>
            </a:r>
            <a:r>
              <a:rPr lang="en-US" sz="1100" b="1" i="0" dirty="0" err="1">
                <a:effectLst/>
                <a:latin typeface="Calisto MT" panose="02040603050505030304" pitchFamily="18" charset="0"/>
              </a:rPr>
              <a:t>recall_score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 in </a:t>
            </a:r>
            <a:r>
              <a:rPr lang="en-US" sz="1100" b="0" i="0" dirty="0" err="1">
                <a:effectLst/>
                <a:latin typeface="Calisto MT" panose="02040603050505030304" pitchFamily="18" charset="0"/>
              </a:rPr>
              <a:t>GridSearch's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 scoring parameter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423632-1FA7-9527-2C27-74F502F52354}"/>
              </a:ext>
            </a:extLst>
          </p:cNvPr>
          <p:cNvSpPr txBox="1"/>
          <p:nvPr/>
        </p:nvSpPr>
        <p:spPr>
          <a:xfrm>
            <a:off x="134806" y="2697470"/>
            <a:ext cx="2585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Logistic Regression</a:t>
            </a:r>
            <a:r>
              <a:rPr lang="en-US" dirty="0">
                <a:latin typeface="Calisto MT" panose="02040603050505030304" pitchFamily="18" charset="0"/>
              </a:rPr>
              <a:t>:-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5A7FE2-770A-3E84-2D76-CAF349249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6" y="3211367"/>
            <a:ext cx="1330646" cy="6078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72782A-103C-0CD7-9DA7-D6A62130C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9" y="4336179"/>
            <a:ext cx="3301482" cy="12372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255CAA-F7A8-4361-17AE-7678AF1C5918}"/>
              </a:ext>
            </a:extLst>
          </p:cNvPr>
          <p:cNvSpPr txBox="1"/>
          <p:nvPr/>
        </p:nvSpPr>
        <p:spPr>
          <a:xfrm>
            <a:off x="3671665" y="2689012"/>
            <a:ext cx="280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sto MT" panose="02040603050505030304" pitchFamily="18" charset="0"/>
              </a:rPr>
              <a:t>RandomForestClassifier</a:t>
            </a:r>
            <a:r>
              <a:rPr lang="en-US" dirty="0">
                <a:latin typeface="Calisto MT" panose="02040603050505030304" pitchFamily="18" charset="0"/>
              </a:rPr>
              <a:t>:-</a:t>
            </a:r>
            <a:endParaRPr lang="en-IN" b="1" dirty="0">
              <a:latin typeface="Calisto MT" panose="0204060305050503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2BD4DC-EDF5-2CDF-A638-AB20F4EAE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156" y="3212534"/>
            <a:ext cx="1330646" cy="6078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220565-B004-AE79-BBED-9BCC30820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818" y="4336179"/>
            <a:ext cx="3283670" cy="12372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F6DBBE-8AD1-A544-33B6-8D3FE98679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269" y="1815826"/>
            <a:ext cx="4718668" cy="37575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197233A-696D-9FFC-B17E-F0ACC5E564E5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Comparing</a:t>
            </a:r>
            <a:endParaRPr lang="en-US" sz="4000" b="1" u="sng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BDD206-5A7C-DCB8-A36D-3E70D1A50A76}"/>
              </a:ext>
            </a:extLst>
          </p:cNvPr>
          <p:cNvSpPr txBox="1"/>
          <p:nvPr/>
        </p:nvSpPr>
        <p:spPr>
          <a:xfrm>
            <a:off x="8799871" y="-1"/>
            <a:ext cx="3392129" cy="1476000"/>
          </a:xfrm>
          <a:prstGeom prst="rect">
            <a:avLst/>
          </a:prstGeom>
          <a:solidFill>
            <a:srgbClr val="1F4E6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24AC3-2DCA-BE49-85D2-FAF05C837FCF}"/>
              </a:ext>
            </a:extLst>
          </p:cNvPr>
          <p:cNvSpPr txBox="1"/>
          <p:nvPr/>
        </p:nvSpPr>
        <p:spPr>
          <a:xfrm>
            <a:off x="134806" y="5913234"/>
            <a:ext cx="117888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sto MT" panose="02040603050505030304" pitchFamily="18" charset="0"/>
              </a:rPr>
              <a:t>Confusion matrix shows that </a:t>
            </a:r>
            <a:r>
              <a:rPr lang="en-IN" sz="1400" dirty="0" err="1">
                <a:latin typeface="Calisto MT" panose="02040603050505030304" pitchFamily="18" charset="0"/>
              </a:rPr>
              <a:t>RandomForectClassifier</a:t>
            </a:r>
            <a:r>
              <a:rPr lang="en-IN" sz="1400" dirty="0">
                <a:latin typeface="Calisto MT" panose="02040603050505030304" pitchFamily="18" charset="0"/>
              </a:rPr>
              <a:t> (RFC) has a better recall score, which is what we need in our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sto MT" panose="02040603050505030304" pitchFamily="18" charset="0"/>
              </a:rPr>
              <a:t>Additionally, the ROC_AUC also shows that RFC performs better overall across all threshold values since it has more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sto MT" panose="02040603050505030304" pitchFamily="18" charset="0"/>
            </a:endParaRPr>
          </a:p>
          <a:p>
            <a:r>
              <a:rPr lang="en-IN" sz="1400" dirty="0">
                <a:latin typeface="Calisto MT" panose="02040603050505030304" pitchFamily="18" charset="0"/>
              </a:rPr>
              <a:t>Therefore, RFC is a better performing model than </a:t>
            </a:r>
            <a:r>
              <a:rPr lang="en-IN" sz="1400" dirty="0" err="1">
                <a:latin typeface="Calisto MT" panose="02040603050505030304" pitchFamily="18" charset="0"/>
              </a:rPr>
              <a:t>LogisticRegression</a:t>
            </a:r>
            <a:r>
              <a:rPr lang="en-IN" sz="1400" dirty="0">
                <a:latin typeface="Calisto MT" panose="0204060305050503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299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85517D-E101-D1D9-BFE8-541EAB043389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60F88-CE00-6086-A404-E73613885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191" y="1685653"/>
            <a:ext cx="6226110" cy="3365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A82A97-B2D0-09C1-CC18-6A2B94A29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1685653"/>
            <a:ext cx="5866495" cy="3365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96C612-71C0-7FB2-D151-5225B16C25EE}"/>
              </a:ext>
            </a:extLst>
          </p:cNvPr>
          <p:cNvSpPr txBox="1"/>
          <p:nvPr/>
        </p:nvSpPr>
        <p:spPr>
          <a:xfrm>
            <a:off x="0" y="5455888"/>
            <a:ext cx="11090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model was then saved using the </a:t>
            </a:r>
            <a:r>
              <a:rPr lang="en-US" b="1" dirty="0"/>
              <a:t>pickle library</a:t>
            </a:r>
            <a:r>
              <a:rPr lang="en-US" dirty="0"/>
              <a:t>, and was then deployed on a localhost page (the deployment code was written with the help of </a:t>
            </a:r>
            <a:r>
              <a:rPr lang="en-US" dirty="0" err="1"/>
              <a:t>Chatgpt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72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1D4AD5-4257-A385-6CC1-E7BA918A8D81}"/>
              </a:ext>
            </a:extLst>
          </p:cNvPr>
          <p:cNvSpPr txBox="1"/>
          <p:nvPr/>
        </p:nvSpPr>
        <p:spPr>
          <a:xfrm>
            <a:off x="138460" y="1822103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u="sng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443301D-DC46-28D2-1F97-F8338BBB9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57" y="1397682"/>
            <a:ext cx="5944243" cy="318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729733-0153-A207-C9A9-A99BD4AEA485}"/>
              </a:ext>
            </a:extLst>
          </p:cNvPr>
          <p:cNvSpPr txBox="1"/>
          <p:nvPr/>
        </p:nvSpPr>
        <p:spPr>
          <a:xfrm>
            <a:off x="0" y="-9741"/>
            <a:ext cx="12192000" cy="1476112"/>
          </a:xfrm>
          <a:prstGeom prst="rect">
            <a:avLst/>
          </a:prstGeom>
          <a:solidFill>
            <a:srgbClr val="1A445E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u="sng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29627-C509-FDB0-4B6E-DBFFDBA0C585}"/>
              </a:ext>
            </a:extLst>
          </p:cNvPr>
          <p:cNvSpPr txBox="1"/>
          <p:nvPr/>
        </p:nvSpPr>
        <p:spPr>
          <a:xfrm>
            <a:off x="563596" y="385080"/>
            <a:ext cx="8432920" cy="649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</a:rPr>
              <a:t>SHAP – Model explainability</a:t>
            </a:r>
            <a:endParaRPr lang="en-US" b="1" u="sng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A4550-5FFF-60F8-A690-0D7B38D22F24}"/>
              </a:ext>
            </a:extLst>
          </p:cNvPr>
          <p:cNvSpPr txBox="1"/>
          <p:nvPr/>
        </p:nvSpPr>
        <p:spPr>
          <a:xfrm>
            <a:off x="8799871" y="22400"/>
            <a:ext cx="3392129" cy="1476000"/>
          </a:xfrm>
          <a:prstGeom prst="rect">
            <a:avLst/>
          </a:prstGeom>
          <a:solidFill>
            <a:srgbClr val="1F4E6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CBB97-90B0-6E55-02BD-45AE81193BF0}"/>
              </a:ext>
            </a:extLst>
          </p:cNvPr>
          <p:cNvSpPr txBox="1"/>
          <p:nvPr/>
        </p:nvSpPr>
        <p:spPr>
          <a:xfrm>
            <a:off x="277580" y="4726329"/>
            <a:ext cx="37595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model predicts a </a:t>
            </a:r>
            <a:r>
              <a:rPr lang="en-US" sz="1200" b="1" dirty="0"/>
              <a:t>94.8% probability</a:t>
            </a:r>
            <a:r>
              <a:rPr lang="en-US" sz="1200" dirty="0"/>
              <a:t> (using these specific features) of the customer taking the loan, starting from a base value of 50.1%.</a:t>
            </a:r>
          </a:p>
          <a:p>
            <a:endParaRPr lang="en-US" sz="1200" dirty="0"/>
          </a:p>
          <a:p>
            <a:r>
              <a:rPr lang="en-US" sz="1200" dirty="0"/>
              <a:t>This high prediction is mainly driven by </a:t>
            </a:r>
            <a:r>
              <a:rPr lang="en-US" sz="1200" b="1" dirty="0"/>
              <a:t>high income, strong credit card spending, and education level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Other factors like age, mortgage, and CD account have </a:t>
            </a:r>
            <a:r>
              <a:rPr lang="en-US" sz="1200" b="1" dirty="0"/>
              <a:t>minimal impact</a:t>
            </a:r>
            <a:r>
              <a:rPr lang="en-US" sz="1200" dirty="0"/>
              <a:t>, so they do not significantly affect the outcome.</a:t>
            </a:r>
          </a:p>
          <a:p>
            <a:endParaRPr lang="en-US" sz="1200" dirty="0"/>
          </a:p>
          <a:p>
            <a:r>
              <a:rPr lang="en-US" sz="1200" dirty="0"/>
              <a:t>(This is for a specific example)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BFF2AB-DD11-6E70-D7C2-F380D01B2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757" y="1530961"/>
            <a:ext cx="5685357" cy="319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0527D4-9C76-91DD-EAE2-0B71FD5B83EA}"/>
              </a:ext>
            </a:extLst>
          </p:cNvPr>
          <p:cNvSpPr txBox="1"/>
          <p:nvPr/>
        </p:nvSpPr>
        <p:spPr>
          <a:xfrm>
            <a:off x="6803923" y="4876777"/>
            <a:ext cx="41492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SHAP value bar plot of the model. </a:t>
            </a:r>
          </a:p>
          <a:p>
            <a:endParaRPr lang="en-IN" sz="1200" dirty="0"/>
          </a:p>
          <a:p>
            <a:r>
              <a:rPr lang="en-IN" sz="1200" dirty="0"/>
              <a:t>From this, we can see the model relies heavily on Income, </a:t>
            </a:r>
            <a:r>
              <a:rPr lang="en-IN" sz="1200" dirty="0" err="1"/>
              <a:t>CCAvg</a:t>
            </a:r>
            <a:r>
              <a:rPr lang="en-IN" sz="1200" dirty="0"/>
              <a:t>, Education, while other columns have minimal impact. </a:t>
            </a:r>
          </a:p>
          <a:p>
            <a:endParaRPr lang="en-IN" sz="1200" dirty="0"/>
          </a:p>
          <a:p>
            <a:r>
              <a:rPr lang="en-IN" sz="1200" dirty="0"/>
              <a:t>Seeing the graph, we can also see that Age input feature is of no use, and hence can be removed from the model.</a:t>
            </a:r>
          </a:p>
        </p:txBody>
      </p:sp>
    </p:spTree>
    <p:extLst>
      <p:ext uri="{BB962C8B-B14F-4D97-AF65-F5344CB8AC3E}">
        <p14:creationId xmlns:p14="http://schemas.microsoft.com/office/powerpoint/2010/main" val="1287833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7A2FB4-CF97-9953-BF70-66BF028BC2B2}"/>
              </a:ext>
            </a:extLst>
          </p:cNvPr>
          <p:cNvSpPr txBox="1"/>
          <p:nvPr/>
        </p:nvSpPr>
        <p:spPr>
          <a:xfrm>
            <a:off x="177876" y="300800"/>
            <a:ext cx="7284935" cy="71130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New learnings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72314-F3E3-B660-BFF1-6FC609894CF8}"/>
              </a:ext>
            </a:extLst>
          </p:cNvPr>
          <p:cNvSpPr txBox="1"/>
          <p:nvPr/>
        </p:nvSpPr>
        <p:spPr>
          <a:xfrm>
            <a:off x="177876" y="1629522"/>
            <a:ext cx="10865912" cy="46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listo MT" panose="02040603050505030304" pitchFamily="18" charset="0"/>
              </a:rPr>
              <a:t>Thinking and performing analysis with a focus on business benefit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Imbalance handling using techniques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SMOTE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class_weights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Building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end-to-end machine learning pipeline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GridSearchCV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 with cross-validation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for hyperparameter tuning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Model comparison using metrics like Confusion matrix,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ROC_AUC curve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, and Classification report.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bg1"/>
              </a:solidFill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chemeClr val="bg1"/>
                </a:solidFill>
                <a:latin typeface="Calisto MT" panose="02040603050505030304" pitchFamily="18" charset="0"/>
              </a:rPr>
              <a:t>Using SHAP for model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182325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1441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Calisto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motiyani</dc:creator>
  <cp:lastModifiedBy>bhavya motiyani</cp:lastModifiedBy>
  <cp:revision>7</cp:revision>
  <dcterms:created xsi:type="dcterms:W3CDTF">2026-01-07T13:56:02Z</dcterms:created>
  <dcterms:modified xsi:type="dcterms:W3CDTF">2026-04-10T10:46:52Z</dcterms:modified>
</cp:coreProperties>
</file>